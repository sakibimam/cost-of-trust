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4572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100" b="1">
                <a:solidFill>
                  <a:srgbClr val="008F86"/>
                </a:solidFill>
                <a:latin typeface="Courier New"/>
              </a:defRPr>
            </a:pPr>
            <a:r>
              <a:t>CARDANO AGENTIC COMMERCE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49808" y="1417320"/>
            <a:ext cx="10515600" cy="1234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3800" b="1">
                <a:solidFill>
                  <a:srgbClr val="0B1F2A"/>
                </a:solidFill>
                <a:latin typeface="Trebuchet MS"/>
              </a:defRPr>
            </a:pPr>
            <a:r>
              <a:t>Your AI agent prices</a:t>
            </a:r>
            <a:br/>
            <a:r>
              <a:t>who to trust before it spends.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3063240"/>
            <a:ext cx="777240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2400" b="1">
                <a:solidFill>
                  <a:srgbClr val="065B5C"/>
                </a:solidFill>
                <a:latin typeface="Aptos"/>
              </a:defRPr>
            </a:pPr>
            <a:r>
              <a:t>The cheapest keeper is not the cheapest route.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4206240"/>
            <a:ext cx="315468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ctr">
              <a:defRPr sz="2500" b="1">
                <a:solidFill>
                  <a:srgbClr val="0B1F2A"/>
                </a:solidFill>
                <a:latin typeface="Trebuchet MS"/>
              </a:defRPr>
            </a:pPr>
            <a:r>
              <a:t>10 ADA</a:t>
            </a:r>
            <a:br/>
            <a:r>
              <a:t>service price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4206240"/>
            <a:ext cx="315468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ctr">
              <a:defRPr sz="2500" b="1">
                <a:solidFill>
                  <a:srgbClr val="E68A2E"/>
                </a:solidFill>
                <a:latin typeface="Trebuchet MS"/>
              </a:defRPr>
            </a:pPr>
            <a:r>
              <a:t>100 ADA</a:t>
            </a:r>
            <a:br/>
            <a:r>
              <a:t>deadline loss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54112" y="4206240"/>
            <a:ext cx="3383280" cy="960120"/>
          </a:xfrm>
          <a:prstGeom prst="roundRect">
            <a:avLst>
              <a:gd name="adj" fmla="val 12000"/>
            </a:avLst>
          </a:prstGeom>
          <a:solidFill>
            <a:srgbClr val="065B5C"/>
          </a:solidFill>
          <a:ln w="12700">
            <a:solidFill>
              <a:srgbClr val="065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ctr">
              <a:defRPr sz="2500" b="1">
                <a:solidFill>
                  <a:srgbClr val="FFFFFF"/>
                </a:solidFill>
                <a:latin typeface="Trebuchet MS"/>
              </a:defRPr>
            </a:pPr>
            <a:r>
              <a:t>route before</a:t>
            </a:r>
            <a:br/>
            <a:r>
              <a:t>payment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6272784"/>
            <a:ext cx="105156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100" b="0">
                <a:solidFill>
                  <a:srgbClr val="5D7076"/>
                </a:solidFill>
                <a:latin typeface="Courier New"/>
              </a:defRPr>
            </a:pPr>
            <a:r>
              <a:t>Cost of Trust  |  risk-priced routing for deadline 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56032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008F86"/>
                </a:solidFill>
                <a:latin typeface="Courier New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0352"/>
            <a:ext cx="10744200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3500" b="1">
                <a:solidFill>
                  <a:srgbClr val="0B1F2A"/>
                </a:solidFill>
                <a:latin typeface="Trebuchet MS"/>
              </a:defRPr>
            </a:pPr>
            <a:r>
              <a:t>Price alone is the wrong decision rule.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51560" cy="64008"/>
          </a:xfrm>
          <a:prstGeom prst="roundRect">
            <a:avLst>
              <a:gd name="adj" fmla="val 8000"/>
            </a:avLst>
          </a:prstGeom>
          <a:solidFill>
            <a:srgbClr val="00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768096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COST OF TRUST  /  CARDANO AGENTIC 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2/10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07492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960120" y="1920240"/>
            <a:ext cx="44348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2100" b="1">
                <a:solidFill>
                  <a:srgbClr val="0B1F2A"/>
                </a:solidFill>
                <a:latin typeface="Trebuchet MS"/>
              </a:defRPr>
            </a:pPr>
            <a:r>
              <a:t>A missed deadline destroys more value than the request costs.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651760"/>
            <a:ext cx="26517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1">
                <a:solidFill>
                  <a:srgbClr val="008F86"/>
                </a:solidFill>
                <a:latin typeface="Aptos"/>
              </a:defRPr>
            </a:pPr>
            <a:r>
              <a:t>Seller price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651760"/>
            <a:ext cx="18288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1400" b="0">
                <a:solidFill>
                  <a:srgbClr val="5D7076"/>
                </a:solidFill>
                <a:latin typeface="Courier New"/>
              </a:defRPr>
            </a:pPr>
            <a:r>
              <a:t>10 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218688"/>
            <a:ext cx="26517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1">
                <a:solidFill>
                  <a:srgbClr val="0B1F2A"/>
                </a:solidFill>
                <a:latin typeface="Aptos"/>
              </a:defRPr>
            </a:pPr>
            <a:r>
              <a:t>Observed delivery history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3218688"/>
            <a:ext cx="18288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1400" b="0">
                <a:solidFill>
                  <a:srgbClr val="5D7076"/>
                </a:solidFill>
                <a:latin typeface="Courier New"/>
              </a:defRPr>
            </a:pPr>
            <a:r>
              <a:t>failure posterior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785615"/>
            <a:ext cx="26517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1">
                <a:solidFill>
                  <a:srgbClr val="0B1F2A"/>
                </a:solidFill>
                <a:latin typeface="Aptos"/>
              </a:defRPr>
            </a:pPr>
            <a:r>
              <a:t>Infrastructure correlation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3785615"/>
            <a:ext cx="18288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1400" b="0">
                <a:solidFill>
                  <a:srgbClr val="5D7076"/>
                </a:solidFill>
                <a:latin typeface="Courier New"/>
              </a:defRPr>
            </a:pPr>
            <a:r>
              <a:t>independent or shared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4352544"/>
            <a:ext cx="26517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1">
                <a:solidFill>
                  <a:srgbClr val="0B1F2A"/>
                </a:solidFill>
                <a:latin typeface="Aptos"/>
              </a:defRPr>
            </a:pPr>
            <a:r>
              <a:t>Buyer risk appetite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4352544"/>
            <a:ext cx="18288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1400" b="0">
                <a:solidFill>
                  <a:srgbClr val="5D7076"/>
                </a:solidFill>
                <a:latin typeface="Courier New"/>
              </a:defRPr>
            </a:pPr>
            <a:r>
              <a:t>absorb loss or protect tail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645920"/>
            <a:ext cx="5349240" cy="3566160"/>
          </a:xfrm>
          <a:prstGeom prst="roundRect">
            <a:avLst>
              <a:gd name="adj" fmla="val 8000"/>
            </a:avLst>
          </a:prstGeom>
          <a:solidFill>
            <a:srgbClr val="0B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6537960" y="1938528"/>
            <a:ext cx="448056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2500" b="1">
                <a:solidFill>
                  <a:srgbClr val="FFFFFF"/>
                </a:solidFill>
                <a:latin typeface="Trebuchet MS"/>
              </a:defRPr>
            </a:pPr>
            <a:r>
              <a:t>The route is the product.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697480"/>
            <a:ext cx="1600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400" b="1">
                <a:solidFill>
                  <a:srgbClr val="E68A2E"/>
                </a:solidFill>
                <a:latin typeface="Courier New"/>
              </a:defRPr>
            </a:pPr>
            <a:r>
              <a:t>single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697480"/>
            <a:ext cx="26974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cheap, exposed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172968"/>
            <a:ext cx="1600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400" b="1">
                <a:solidFill>
                  <a:srgbClr val="008F86"/>
                </a:solidFill>
                <a:latin typeface="Courier New"/>
              </a:defRPr>
            </a:pPr>
            <a:r>
              <a:t>redundant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172968"/>
            <a:ext cx="26974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expensive, lower joint loss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3648456"/>
            <a:ext cx="1600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400" b="1">
                <a:solidFill>
                  <a:srgbClr val="008F86"/>
                </a:solidFill>
                <a:latin typeface="Courier New"/>
              </a:defRPr>
            </a:pPr>
            <a:r>
              <a:t>staggered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648456"/>
            <a:ext cx="26974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one spend, late backup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4123944"/>
            <a:ext cx="1600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400" b="1">
                <a:solidFill>
                  <a:srgbClr val="008F86"/>
                </a:solidFill>
                <a:latin typeface="Courier New"/>
              </a:defRPr>
            </a:pPr>
            <a:r>
              <a:t>underwritten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4123944"/>
            <a:ext cx="26974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coverage caps the tail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623560"/>
            <a:ext cx="1088136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1">
                <a:solidFill>
                  <a:srgbClr val="065B5C"/>
                </a:solidFill>
                <a:latin typeface="Aptos"/>
              </a:defRPr>
            </a:pPr>
            <a:r>
              <a:t>The router returns the eligible routes, their arithmetic, and the terms hash before the buyer pays.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56032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008F86"/>
                </a:solidFill>
                <a:latin typeface="Courier New"/>
              </a:defRPr>
            </a:pPr>
            <a:r>
              <a:t>SELECTION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0352"/>
            <a:ext cx="10744200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3500" b="1">
                <a:solidFill>
                  <a:srgbClr val="0B1F2A"/>
                </a:solidFill>
                <a:latin typeface="Trebuchet MS"/>
              </a:defRPr>
            </a:pPr>
            <a:r>
              <a:t>The buyer's route changes with risk and correlation.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51560" cy="64008"/>
          </a:xfrm>
          <a:prstGeom prst="roundRect">
            <a:avLst>
              <a:gd name="adj" fmla="val 8000"/>
            </a:avLst>
          </a:prstGeom>
          <a:solidFill>
            <a:srgbClr val="00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768096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COST OF TRUST  /  CARDANO AGENTIC 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3/10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27432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100" b="1">
                <a:solidFill>
                  <a:srgbClr val="5D7076"/>
                </a:solidFill>
                <a:latin typeface="Courier New"/>
              </a:defRPr>
            </a:pPr>
            <a:r>
              <a:t>BUYER RISK AVERSION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664208"/>
            <a:ext cx="3749039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>
              <a:defRPr sz="1300" b="1">
                <a:solidFill>
                  <a:srgbClr val="008F86"/>
                </a:solidFill>
                <a:latin typeface="Courier New"/>
              </a:defRPr>
            </a:pPr>
            <a:r>
              <a:t>INDEPENDENT KEEPERS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664208"/>
            <a:ext cx="3749039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>
              <a:defRPr sz="1300" b="1">
                <a:solidFill>
                  <a:srgbClr val="E68A2E"/>
                </a:solidFill>
                <a:latin typeface="Courier New"/>
              </a:defRPr>
            </a:pPr>
            <a:r>
              <a:t>SHARED INFRASTRUCTURE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94560"/>
            <a:ext cx="27432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2200" b="1">
                <a:solidFill>
                  <a:srgbClr val="0B1F2A"/>
                </a:solidFill>
                <a:latin typeface="Trebuchet MS"/>
              </a:defRPr>
            </a:pPr>
            <a: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194560"/>
            <a:ext cx="3749039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600" b="1">
                <a:solidFill>
                  <a:srgbClr val="065B5C"/>
                </a:solidFill>
                <a:latin typeface="Aptos"/>
              </a:defRPr>
            </a:pPr>
            <a:r>
              <a:t>Staggered A &gt; B</a:t>
            </a:r>
            <a:br/>
            <a:r>
              <a:t>11.10 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194560"/>
            <a:ext cx="3749039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600" b="1">
                <a:solidFill>
                  <a:srgbClr val="E68A2E"/>
                </a:solidFill>
                <a:latin typeface="Aptos"/>
              </a:defRPr>
            </a:pPr>
            <a:r>
              <a:t>Staggered A &gt; B</a:t>
            </a:r>
            <a:br/>
            <a:r>
              <a:t>18.24 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35808"/>
            <a:ext cx="2743200" cy="713232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2200" b="1">
                <a:solidFill>
                  <a:srgbClr val="0B1F2A"/>
                </a:solidFill>
                <a:latin typeface="Trebuchet MS"/>
              </a:defRPr>
            </a:pPr>
            <a:r>
              <a:t>0.25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3035808"/>
            <a:ext cx="3749039" cy="713232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600" b="1">
                <a:solidFill>
                  <a:srgbClr val="065B5C"/>
                </a:solidFill>
                <a:latin typeface="Aptos"/>
              </a:defRPr>
            </a:pPr>
            <a:r>
              <a:t>Staggered A &gt; B</a:t>
            </a:r>
            <a:br/>
            <a:r>
              <a:t>15.36 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3035808"/>
            <a:ext cx="3749039" cy="713232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600" b="1">
                <a:solidFill>
                  <a:srgbClr val="E68A2E"/>
                </a:solidFill>
                <a:latin typeface="Aptos"/>
              </a:defRPr>
            </a:pPr>
            <a:r>
              <a:t>Staggered B &gt; A</a:t>
            </a:r>
            <a:br/>
            <a:r>
              <a:t>25.75 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877056"/>
            <a:ext cx="27432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2200" b="1">
                <a:solidFill>
                  <a:srgbClr val="0B1F2A"/>
                </a:solidFill>
                <a:latin typeface="Trebuchet MS"/>
              </a:defRPr>
            </a:pPr>
            <a:r>
              <a:t>0.5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3877056"/>
            <a:ext cx="3749039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600" b="1">
                <a:solidFill>
                  <a:srgbClr val="065B5C"/>
                </a:solidFill>
                <a:latin typeface="Aptos"/>
              </a:defRPr>
            </a:pPr>
            <a:r>
              <a:t>Staggered A &gt; B</a:t>
            </a:r>
            <a:br/>
            <a:r>
              <a:t>19.63 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3877056"/>
            <a:ext cx="3749039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600" b="1">
                <a:solidFill>
                  <a:srgbClr val="E68A2E"/>
                </a:solidFill>
                <a:latin typeface="Aptos"/>
              </a:defRPr>
            </a:pPr>
            <a:r>
              <a:t>Underwritten B</a:t>
            </a:r>
            <a:br/>
            <a:r>
              <a:t>29.60 ADA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18304"/>
            <a:ext cx="2743200" cy="713232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2200" b="1">
                <a:solidFill>
                  <a:srgbClr val="0B1F2A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4718304"/>
            <a:ext cx="3749039" cy="713232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600" b="1">
                <a:solidFill>
                  <a:srgbClr val="065B5C"/>
                </a:solidFill>
                <a:latin typeface="Aptos"/>
              </a:defRPr>
            </a:pPr>
            <a:r>
              <a:t>Staggered B &gt; A</a:t>
            </a:r>
            <a:br/>
            <a:r>
              <a:t>27.71 ADA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4718304"/>
            <a:ext cx="3749039" cy="713232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600" b="1">
                <a:solidFill>
                  <a:srgbClr val="E68A2E"/>
                </a:solidFill>
                <a:latin typeface="Aptos"/>
              </a:defRPr>
            </a:pPr>
            <a:r>
              <a:t>Underwritten B</a:t>
            </a:r>
            <a:br/>
            <a:r>
              <a:t>37.00 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715000"/>
            <a:ext cx="10469880" cy="3931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700" b="1">
                <a:solidFill>
                  <a:srgbClr val="0B1F2A"/>
                </a:solidFill>
                <a:latin typeface="Aptos"/>
              </a:defRPr>
            </a:pPr>
            <a:r>
              <a:t>Lowest risk-adjusted cost wins. Shared failure makes apparent redundancy less valuable.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56032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008F86"/>
                </a:solidFill>
                <a:latin typeface="Courier New"/>
              </a:defRPr>
            </a:pPr>
            <a:r>
              <a:t>DECISION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0352"/>
            <a:ext cx="10744200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3500" b="1">
                <a:solidFill>
                  <a:srgbClr val="0B1F2A"/>
                </a:solidFill>
                <a:latin typeface="Trebuchet MS"/>
              </a:defRPr>
            </a:pPr>
            <a:r>
              <a:t>Two buyers. Same sellers. Different winners.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51560" cy="64008"/>
          </a:xfrm>
          <a:prstGeom prst="roundRect">
            <a:avLst>
              <a:gd name="adj" fmla="val 8000"/>
            </a:avLst>
          </a:prstGeom>
          <a:solidFill>
            <a:srgbClr val="00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768096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COST OF TRUST  /  CARDANO AGENTIC 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4/10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34924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1005840" y="1874519"/>
            <a:ext cx="470916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200" b="1">
                <a:solidFill>
                  <a:srgbClr val="008F86"/>
                </a:solidFill>
                <a:latin typeface="Courier New"/>
              </a:defRPr>
            </a:pPr>
            <a:r>
              <a:t>CAN ABSORB LOSS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286000"/>
            <a:ext cx="47091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1">
                <a:solidFill>
                  <a:srgbClr val="0B1F2A"/>
                </a:solidFill>
                <a:latin typeface="Aptos"/>
              </a:defRPr>
            </a:pPr>
            <a:r>
              <a:t>risk aversion 0  |  independent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926080"/>
            <a:ext cx="1371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300" b="1">
                <a:solidFill>
                  <a:srgbClr val="5D7076"/>
                </a:solidFill>
                <a:latin typeface="Courier New"/>
              </a:defRPr>
            </a:pPr>
            <a:r>
              <a:t>route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2926080"/>
            <a:ext cx="30632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1">
                <a:solidFill>
                  <a:srgbClr val="0B1F2A"/>
                </a:solidFill>
                <a:latin typeface="Aptos"/>
              </a:defRPr>
            </a:pPr>
            <a:r>
              <a:t>staggered A &gt;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493008"/>
            <a:ext cx="1371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300" b="1">
                <a:solidFill>
                  <a:srgbClr val="5D7076"/>
                </a:solidFill>
                <a:latin typeface="Courier New"/>
              </a:defRPr>
            </a:pPr>
            <a:r>
              <a:t>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3493008"/>
            <a:ext cx="30632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1">
                <a:solidFill>
                  <a:srgbClr val="0B1F2A"/>
                </a:solidFill>
                <a:latin typeface="Aptos"/>
              </a:defRPr>
            </a:pPr>
            <a:r>
              <a:t>8.10 ADA 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4059936"/>
            <a:ext cx="1371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300" b="1">
                <a:solidFill>
                  <a:srgbClr val="5D7076"/>
                </a:solidFill>
                <a:latin typeface="Courier New"/>
              </a:defRPr>
            </a:pPr>
            <a:r>
              <a:t>risk-adjusted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4059936"/>
            <a:ext cx="30632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1">
                <a:solidFill>
                  <a:srgbClr val="0B1F2A"/>
                </a:solidFill>
                <a:latin typeface="Aptos"/>
              </a:defRPr>
            </a:pPr>
            <a:r>
              <a:t>8.83 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600200"/>
            <a:ext cx="534924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464807" y="1874519"/>
            <a:ext cx="470916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200" b="1">
                <a:solidFill>
                  <a:srgbClr val="E68A2E"/>
                </a:solidFill>
                <a:latin typeface="Courier New"/>
              </a:defRPr>
            </a:pPr>
            <a:r>
              <a:t>NEEDS TAIL PROTECTION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64807" y="2286000"/>
            <a:ext cx="47091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1">
                <a:solidFill>
                  <a:srgbClr val="0B1F2A"/>
                </a:solidFill>
                <a:latin typeface="Aptos"/>
              </a:defRPr>
            </a:pPr>
            <a:r>
              <a:t>risk aversion 0.5  |  shared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64807" y="2926080"/>
            <a:ext cx="1371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300" b="1">
                <a:solidFill>
                  <a:srgbClr val="5D7076"/>
                </a:solidFill>
                <a:latin typeface="Courier New"/>
              </a:defRPr>
            </a:pPr>
            <a:r>
              <a:t>route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73567" y="2926080"/>
            <a:ext cx="30632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1">
                <a:solidFill>
                  <a:srgbClr val="0B1F2A"/>
                </a:solidFill>
                <a:latin typeface="Aptos"/>
              </a:defRPr>
            </a:pPr>
            <a:r>
              <a:t>underwritten 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64807" y="3493008"/>
            <a:ext cx="1371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300" b="1">
                <a:solidFill>
                  <a:srgbClr val="5D7076"/>
                </a:solidFill>
                <a:latin typeface="Courier New"/>
              </a:defRPr>
            </a:pPr>
            <a:r>
              <a:t>coverage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7" y="3493008"/>
            <a:ext cx="30632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1">
                <a:solidFill>
                  <a:srgbClr val="0B1F2A"/>
                </a:solidFill>
                <a:latin typeface="Aptos"/>
              </a:defRPr>
            </a:pPr>
            <a:r>
              <a:t>10 ADA collateral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64807" y="4059936"/>
            <a:ext cx="1371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300" b="1">
                <a:solidFill>
                  <a:srgbClr val="5D7076"/>
                </a:solidFill>
                <a:latin typeface="Courier New"/>
              </a:defRPr>
            </a:pPr>
            <a:r>
              <a:t>risk-adjusted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73567" y="4059936"/>
            <a:ext cx="30632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1">
                <a:solidFill>
                  <a:srgbClr val="0B1F2A"/>
                </a:solidFill>
                <a:latin typeface="Aptos"/>
              </a:defRPr>
            </a:pPr>
            <a:r>
              <a:t>29.60 ADA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577840"/>
            <a:ext cx="10808208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>
              <a:defRPr sz="1600" b="1">
                <a:solidFill>
                  <a:srgbClr val="065B5C"/>
                </a:solidFill>
                <a:latin typeface="Courier New"/>
              </a:defRPr>
            </a:pPr>
            <a:r>
              <a:t>risk-adjusted cost = service price + premium + expected loss + risk aversion × loss standard deviation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56032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008F86"/>
                </a:solidFill>
                <a:latin typeface="Courier New"/>
              </a:defRPr>
            </a:pPr>
            <a:r>
              <a:t>CARDANO MECHANISM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0352"/>
            <a:ext cx="10744200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3500" b="1">
                <a:solidFill>
                  <a:srgbClr val="0B1F2A"/>
                </a:solidFill>
                <a:latin typeface="Trebuchet MS"/>
              </a:defRPr>
            </a:pPr>
            <a:r>
              <a:t>One deadline task. One spend. One winner.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51560" cy="64008"/>
          </a:xfrm>
          <a:prstGeom prst="roundRect">
            <a:avLst>
              <a:gd name="adj" fmla="val 8000"/>
            </a:avLst>
          </a:prstGeom>
          <a:solidFill>
            <a:srgbClr val="00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768096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COST OF TRUST  /  CARDANO AGENTIC 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5/10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42316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914400" y="2057400"/>
            <a:ext cx="59436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200" b="1">
                <a:solidFill>
                  <a:srgbClr val="E68A2E"/>
                </a:solidFill>
                <a:latin typeface="Courier New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60320"/>
            <a:ext cx="19202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2300" b="1">
                <a:solidFill>
                  <a:srgbClr val="0B1F2A"/>
                </a:solidFill>
                <a:latin typeface="Trebuchet MS"/>
              </a:defRPr>
            </a:pPr>
            <a:r>
              <a:t>Quote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154680"/>
            <a:ext cx="1920240" cy="804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0">
                <a:solidFill>
                  <a:srgbClr val="5D7076"/>
                </a:solidFill>
                <a:latin typeface="Aptos"/>
              </a:defRPr>
            </a:pPr>
            <a:r>
              <a:t>Router returns route, arithmetic, and terms hash.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6392" y="2788920"/>
            <a:ext cx="3200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>
              <a:defRPr sz="2200" b="1">
                <a:solidFill>
                  <a:srgbClr val="008F86"/>
                </a:solidFill>
                <a:latin typeface="Trebuchet MS"/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828800"/>
            <a:ext cx="242316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3703320" y="2057400"/>
            <a:ext cx="59436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200" b="1">
                <a:solidFill>
                  <a:srgbClr val="E68A2E"/>
                </a:solidFill>
                <a:latin typeface="Courier New"/>
              </a:defRPr>
            </a:pPr>
            <a: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2560320"/>
            <a:ext cx="19202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2300" b="1">
                <a:solidFill>
                  <a:srgbClr val="0B1F2A"/>
                </a:solidFill>
                <a:latin typeface="Trebuchet MS"/>
              </a:defRPr>
            </a:pPr>
            <a:r>
              <a:t>Lock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3154680"/>
            <a:ext cx="1920240" cy="804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0">
                <a:solidFill>
                  <a:srgbClr val="5D7076"/>
                </a:solidFill>
                <a:latin typeface="Aptos"/>
              </a:defRPr>
            </a:pPr>
            <a:r>
              <a:t>Buyer creates one claim-vault UTxO.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25312" y="2788920"/>
            <a:ext cx="3200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>
              <a:defRPr sz="2200" b="1">
                <a:solidFill>
                  <a:srgbClr val="008F86"/>
                </a:solidFill>
                <a:latin typeface="Trebuchet MS"/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828800"/>
            <a:ext cx="242316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6492240" y="2057400"/>
            <a:ext cx="59436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200" b="1">
                <a:solidFill>
                  <a:srgbClr val="E68A2E"/>
                </a:solidFill>
                <a:latin typeface="Courier New"/>
              </a:defRPr>
            </a:pPr>
            <a: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560320"/>
            <a:ext cx="19202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2300" b="1">
                <a:solidFill>
                  <a:srgbClr val="0B1F2A"/>
                </a:solidFill>
                <a:latin typeface="Trebuchet MS"/>
              </a:defRPr>
            </a:pPr>
            <a:r>
              <a:t>Schedule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154680"/>
            <a:ext cx="1920240" cy="804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0">
                <a:solidFill>
                  <a:srgbClr val="5D7076"/>
                </a:solidFill>
                <a:latin typeface="Aptos"/>
              </a:defRPr>
            </a:pPr>
            <a:r>
              <a:t>Validity intervals give A the first slot and B the late slot.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14232" y="2788920"/>
            <a:ext cx="3200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>
              <a:defRPr sz="2200" b="1">
                <a:solidFill>
                  <a:srgbClr val="008F86"/>
                </a:solidFill>
                <a:latin typeface="Trebuchet MS"/>
              </a:defRPr>
            </a:pPr>
            <a: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59" y="1828800"/>
            <a:ext cx="242316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9281159" y="2057400"/>
            <a:ext cx="59436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200" b="1">
                <a:solidFill>
                  <a:srgbClr val="E68A2E"/>
                </a:solidFill>
                <a:latin typeface="Courier New"/>
              </a:defRPr>
            </a:pPr>
            <a: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59" y="2560320"/>
            <a:ext cx="19202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2300" b="1">
                <a:solidFill>
                  <a:srgbClr val="0B1F2A"/>
                </a:solidFill>
                <a:latin typeface="Trebuchet MS"/>
              </a:defRPr>
            </a:pPr>
            <a:r>
              <a:t>Settle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81159" y="3154680"/>
            <a:ext cx="1920240" cy="804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0">
                <a:solidFill>
                  <a:srgbClr val="5D7076"/>
                </a:solidFill>
                <a:latin typeface="Aptos"/>
              </a:defRPr>
            </a:pPr>
            <a:r>
              <a:t>EUTXO contention pays the keeper whose slot lands.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00600"/>
            <a:ext cx="10808208" cy="777240"/>
          </a:xfrm>
          <a:prstGeom prst="roundRect">
            <a:avLst>
              <a:gd name="adj" fmla="val 10000"/>
            </a:avLst>
          </a:prstGeom>
          <a:solidFill>
            <a:srgbClr val="0B2C3C"/>
          </a:solidFill>
          <a:ln w="12700">
            <a:solidFill>
              <a:srgbClr val="0B2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Coverage is separate: CRE signs the task outcome. Plutus V3 checks its binding, signer threshold, DON digest, and settlement window.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56032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008F86"/>
                </a:solidFill>
                <a:latin typeface="Courier New"/>
              </a:defRPr>
            </a:pPr>
            <a:r>
              <a:t>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0352"/>
            <a:ext cx="10744200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3500" b="1">
                <a:solidFill>
                  <a:srgbClr val="0B1F2A"/>
                </a:solidFill>
                <a:latin typeface="Trebuchet MS"/>
              </a:defRPr>
            </a:pPr>
            <a:r>
              <a:t>Masumi moves payment. Cost of Trust chooses the route.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51560" cy="64008"/>
          </a:xfrm>
          <a:prstGeom prst="roundRect">
            <a:avLst>
              <a:gd name="adj" fmla="val 8000"/>
            </a:avLst>
          </a:prstGeom>
          <a:solidFill>
            <a:srgbClr val="00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768096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COST OF TRUST  /  CARDANO AGENTIC 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6/10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49834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1097280" y="2103120"/>
            <a:ext cx="4297680" cy="4023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1">
                <a:solidFill>
                  <a:srgbClr val="5D7076"/>
                </a:solidFill>
                <a:latin typeface="Courier New"/>
              </a:defRPr>
            </a:pPr>
            <a:r>
              <a:t>MASUMI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697480"/>
            <a:ext cx="420624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2300" b="1">
                <a:solidFill>
                  <a:srgbClr val="0B1F2A"/>
                </a:solidFill>
                <a:latin typeface="Trebuchet MS"/>
              </a:defRPr>
            </a:pPr>
            <a:r>
              <a:t>Should this payment happen?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383280"/>
            <a:ext cx="4297680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0">
                <a:solidFill>
                  <a:srgbClr val="0B1F2A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1600" b="0">
                <a:solidFill>
                  <a:srgbClr val="5D7076"/>
                </a:solidFill>
                <a:latin typeface="Aptos"/>
              </a:defRPr>
            </a:pPr>
            <a:r>
              <a:t>Escrow, identity, reputation</a:t>
            </a:r>
          </a:p>
          <a:p>
            <a:pPr>
              <a:spcBef>
                <a:spcPts val="500"/>
              </a:spcBef>
              <a:defRPr sz="1600" b="0">
                <a:solidFill>
                  <a:srgbClr val="5D7076"/>
                </a:solidFill>
                <a:latin typeface="Aptos"/>
              </a:defRPr>
            </a:pPr>
            <a:r>
              <a:t>Discovery and payment execution</a:t>
            </a:r>
          </a:p>
          <a:p>
            <a:pPr>
              <a:spcBef>
                <a:spcPts val="500"/>
              </a:spcBef>
              <a:defRPr sz="1600" b="0">
                <a:solidFill>
                  <a:srgbClr val="5D7076"/>
                </a:solidFill>
                <a:latin typeface="Aptos"/>
              </a:defRPr>
            </a:pPr>
            <a:r>
              <a:t>Refund policy after the fact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83080"/>
            <a:ext cx="4983480" cy="3566160"/>
          </a:xfrm>
          <a:prstGeom prst="roundRect">
            <a:avLst>
              <a:gd name="adj" fmla="val 8000"/>
            </a:avLst>
          </a:prstGeom>
          <a:solidFill>
            <a:srgbClr val="065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720840" y="2103120"/>
            <a:ext cx="4297680" cy="4023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500" b="1">
                <a:solidFill>
                  <a:srgbClr val="9EE5D4"/>
                </a:solidFill>
                <a:latin typeface="Courier New"/>
              </a:defRPr>
            </a:pPr>
            <a:r>
              <a:t>COST OF TRUST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2697480"/>
            <a:ext cx="420624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2300" b="1">
                <a:solidFill>
                  <a:srgbClr val="FFFFFF"/>
                </a:solidFill>
                <a:latin typeface="Trebuchet MS"/>
              </a:defRPr>
            </a:pPr>
            <a:r>
              <a:t>Which counterparty and which protection route, at what price?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3566160"/>
            <a:ext cx="4297680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0">
                <a:solidFill>
                  <a:srgbClr val="0B1F2A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1600" b="0">
                <a:solidFill>
                  <a:srgbClr val="FFFFFF"/>
                </a:solidFill>
                <a:latin typeface="Aptos"/>
              </a:defRPr>
            </a:pPr>
            <a:r>
              <a:t>Observed seller histories</a:t>
            </a:r>
          </a:p>
          <a:p>
            <a:pPr>
              <a:spcBef>
                <a:spcPts val="500"/>
              </a:spcBef>
              <a:defRPr sz="1600" b="0">
                <a:solidFill>
                  <a:srgbClr val="FFFFFF"/>
                </a:solidFill>
                <a:latin typeface="Aptos"/>
              </a:defRPr>
            </a:pPr>
            <a:r>
              <a:t>Correlation-aware route choice</a:t>
            </a:r>
          </a:p>
          <a:p>
            <a:pPr>
              <a:spcBef>
                <a:spcPts val="500"/>
              </a:spcBef>
              <a:defRPr sz="1600" b="0">
                <a:solidFill>
                  <a:srgbClr val="FFFFFF"/>
                </a:solidFill>
                <a:latin typeface="Aptos"/>
              </a:defRPr>
            </a:pPr>
            <a:r>
              <a:t>Terms hash before x402 payment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700" b="1">
                <a:solidFill>
                  <a:srgbClr val="065B5C"/>
                </a:solidFill>
                <a:latin typeface="Aptos"/>
              </a:defRPr>
            </a:pPr>
            <a:r>
              <a:t>MIP-003-compatible keepers and x402 v2 Cardano exact payments stay in the 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56032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008F86"/>
                </a:solidFill>
                <a:latin typeface="Courier New"/>
              </a:defRPr>
            </a:pPr>
            <a:r>
              <a:t>PROVIDER PROBE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0352"/>
            <a:ext cx="10744200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3500" b="1">
                <a:solidFill>
                  <a:srgbClr val="0B1F2A"/>
                </a:solidFill>
                <a:latin typeface="Trebuchet MS"/>
              </a:defRPr>
            </a:pPr>
            <a:r>
              <a:t>Availability is a route input, not a footnote.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51560" cy="64008"/>
          </a:xfrm>
          <a:prstGeom prst="roundRect">
            <a:avLst>
              <a:gd name="adj" fmla="val 8000"/>
            </a:avLst>
          </a:prstGeom>
          <a:solidFill>
            <a:srgbClr val="00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768096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COST OF TRUST  /  CARDANO AGENTIC 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7/10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2743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5D7076"/>
                </a:solidFill>
                <a:latin typeface="Courier New"/>
              </a:defRPr>
            </a:pPr>
            <a:r>
              <a:t>PROVIDER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737360"/>
            <a:ext cx="685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5D7076"/>
                </a:solidFill>
                <a:latin typeface="Courier New"/>
              </a:defRPr>
            </a:pPr>
            <a:r>
              <a:t>CALLS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737360"/>
            <a:ext cx="9144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5D7076"/>
                </a:solidFill>
                <a:latin typeface="Courier New"/>
              </a:defRPr>
            </a:pPr>
            <a:r>
              <a:t>SUCCESS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737360"/>
            <a:ext cx="868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5D7076"/>
                </a:solidFill>
                <a:latin typeface="Courier New"/>
              </a:defRPr>
            </a:pPr>
            <a:r>
              <a:t>FAILURES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737360"/>
            <a:ext cx="1097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5D7076"/>
                </a:solidFill>
                <a:latin typeface="Courier New"/>
              </a:defRPr>
            </a:pPr>
            <a:r>
              <a:t>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737360"/>
            <a:ext cx="105156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5D7076"/>
                </a:solidFill>
                <a:latin typeface="Courier New"/>
              </a:defRPr>
            </a:pPr>
            <a:r>
              <a:t>P50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737360"/>
            <a:ext cx="105156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5D7076"/>
                </a:solidFill>
                <a:latin typeface="Courier New"/>
              </a:defRPr>
            </a:pPr>
            <a:r>
              <a:t>P95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148840"/>
            <a:ext cx="274320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400" b="1">
                <a:solidFill>
                  <a:srgbClr val="008F86"/>
                </a:solidFill>
                <a:latin typeface="Aptos"/>
              </a:defRPr>
            </a:pPr>
            <a:r>
              <a:t>Koios authenticated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2148840"/>
            <a:ext cx="68580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60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2148840"/>
            <a:ext cx="91440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60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11496" y="2148840"/>
            <a:ext cx="86868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6752" y="2148840"/>
            <a:ext cx="109728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1">
                <a:solidFill>
                  <a:srgbClr val="008F86"/>
                </a:solidFill>
                <a:latin typeface="Courier New"/>
              </a:defRPr>
            </a:pPr>
            <a:r>
              <a:t>100%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50608" y="2148840"/>
            <a:ext cx="105156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394 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38744" y="2148840"/>
            <a:ext cx="105156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485 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834640"/>
            <a:ext cx="2743200" cy="521207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400" b="1">
                <a:solidFill>
                  <a:srgbClr val="E68A2E"/>
                </a:solidFill>
                <a:latin typeface="Aptos"/>
              </a:defRPr>
            </a:pPr>
            <a:r>
              <a:t>Koios public keyless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38144" y="2834640"/>
            <a:ext cx="685800" cy="521207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60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2834640"/>
            <a:ext cx="914400" cy="521207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11496" y="2834640"/>
            <a:ext cx="868680" cy="521207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60 HTTP 429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16752" y="2834640"/>
            <a:ext cx="1097280" cy="521207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1">
                <a:solidFill>
                  <a:srgbClr val="E68A2E"/>
                </a:solidFill>
                <a:latin typeface="Courier New"/>
              </a:defRPr>
            </a:pPr>
            <a:r>
              <a:t>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0608" y="2834640"/>
            <a:ext cx="1051560" cy="521207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181 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38744" y="2834640"/>
            <a:ext cx="1051560" cy="521207"/>
          </a:xfrm>
          <a:prstGeom prst="roundRect">
            <a:avLst>
              <a:gd name="adj" fmla="val 8000"/>
            </a:avLst>
          </a:prstGeom>
          <a:solidFill>
            <a:srgbClr val="EAF1E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186 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520440"/>
            <a:ext cx="274320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400" b="1">
                <a:solidFill>
                  <a:srgbClr val="008F86"/>
                </a:solidFill>
                <a:latin typeface="Aptos"/>
              </a:defRPr>
            </a:pPr>
            <a:r>
              <a:t>Tatum Cardano preprod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38144" y="3520440"/>
            <a:ext cx="68580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60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3520440"/>
            <a:ext cx="91440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60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11496" y="3520440"/>
            <a:ext cx="86868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16752" y="3520440"/>
            <a:ext cx="109728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1">
                <a:solidFill>
                  <a:srgbClr val="008F86"/>
                </a:solidFill>
                <a:latin typeface="Courier New"/>
              </a:defRPr>
            </a:pPr>
            <a:r>
              <a:t>100%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50608" y="3520440"/>
            <a:ext cx="105156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318 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38744" y="3520440"/>
            <a:ext cx="1051560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Courier New"/>
              </a:defRPr>
            </a:pPr>
            <a:r>
              <a:t>750 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66344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0B2C3C"/>
          </a:solidFill>
          <a:ln w="12700">
            <a:solidFill>
              <a:srgbClr val="0B2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60 spaced preprod calls per endpoint. Every 429 and non-2xx response is a failure. A free endpoint still has a deadline cost.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806440"/>
            <a:ext cx="106984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100" b="0">
                <a:solidFill>
                  <a:srgbClr val="5D7076"/>
                </a:solidFill>
                <a:latin typeface="Courier New"/>
              </a:defRPr>
            </a:pPr>
            <a:r>
              <a:t>Source: router/probes/results-20261006051159.json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56032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008F86"/>
                </a:solidFill>
                <a:latin typeface="Courier New"/>
              </a:defRPr>
            </a:pPr>
            <a:r>
              <a:t>COWORKER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0352"/>
            <a:ext cx="10744200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3500" b="1">
                <a:solidFill>
                  <a:srgbClr val="0B1F2A"/>
                </a:solidFill>
                <a:latin typeface="Trebuchet MS"/>
              </a:defRPr>
            </a:pPr>
            <a:r>
              <a:t>Trust Check turns diligence into an 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51560" cy="64008"/>
          </a:xfrm>
          <a:prstGeom prst="roundRect">
            <a:avLst>
              <a:gd name="adj" fmla="val 8000"/>
            </a:avLst>
          </a:prstGeom>
          <a:solidFill>
            <a:srgbClr val="00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768096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COST OF TRUST  /  CARDANO AGENTIC 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8/10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794760" cy="3703320"/>
          </a:xfrm>
          <a:prstGeom prst="roundRect">
            <a:avLst>
              <a:gd name="adj" fmla="val 8000"/>
            </a:avLst>
          </a:prstGeom>
          <a:solidFill>
            <a:srgbClr val="0B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1005840" y="2057400"/>
            <a:ext cx="310896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200" b="1">
                <a:solidFill>
                  <a:srgbClr val="9EE5D4"/>
                </a:solidFill>
                <a:latin typeface="Courier New"/>
              </a:defRPr>
            </a:pPr>
            <a:r>
              <a:t>TRUST CHECK COWORKER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606040"/>
            <a:ext cx="301752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2900" b="1">
                <a:solidFill>
                  <a:srgbClr val="FFFFFF"/>
                </a:solidFill>
                <a:latin typeface="Trebuchet MS"/>
              </a:defRPr>
            </a:pPr>
            <a:r>
              <a:t>Should we hire</a:t>
            </a:r>
            <a:br/>
            <a:r>
              <a:t>this agent?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703320"/>
            <a:ext cx="3063240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700" b="0">
                <a:solidFill>
                  <a:srgbClr val="D8EDE7"/>
                </a:solidFill>
                <a:latin typeface="Aptos"/>
              </a:defRPr>
            </a:pPr>
            <a:r>
              <a:t>Agent ID + task value at risk</a:t>
            </a:r>
            <a:br/>
            <a:r>
              <a:t>becomes a cited report.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4709160"/>
            <a:ext cx="30632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200" b="1">
                <a:solidFill>
                  <a:srgbClr val="9EE5D4"/>
                </a:solidFill>
                <a:latin typeface="Courier New"/>
              </a:defRPr>
            </a:pPr>
            <a:r>
              <a:t>hire  |  backup  |  coverage  |  do not hire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737360"/>
            <a:ext cx="6355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5212080" y="1856231"/>
            <a:ext cx="13258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300" b="1">
                <a:solidFill>
                  <a:srgbClr val="008F86"/>
                </a:solidFill>
                <a:latin typeface="Courier New"/>
              </a:defRPr>
            </a:pPr>
            <a:r>
              <a:t>1. Registry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856231"/>
            <a:ext cx="4114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1">
                <a:solidFill>
                  <a:srgbClr val="0B1F2A"/>
                </a:solidFill>
                <a:latin typeface="Aptos"/>
              </a:defRPr>
            </a:pPr>
            <a:r>
              <a:t>live identity and metadata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633472"/>
            <a:ext cx="6355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5212080" y="2752344"/>
            <a:ext cx="13258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300" b="1">
                <a:solidFill>
                  <a:srgbClr val="008F86"/>
                </a:solidFill>
                <a:latin typeface="Courier New"/>
              </a:defRPr>
            </a:pPr>
            <a:r>
              <a:t>2. History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2752344"/>
            <a:ext cx="4114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1">
                <a:solidFill>
                  <a:srgbClr val="0B1F2A"/>
                </a:solidFill>
                <a:latin typeface="Aptos"/>
              </a:defRPr>
            </a:pPr>
            <a:r>
              <a:t>Masumi escrow records from Koios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3529584"/>
            <a:ext cx="6355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5212080" y="3648456"/>
            <a:ext cx="13258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300" b="1">
                <a:solidFill>
                  <a:srgbClr val="008F86"/>
                </a:solidFill>
                <a:latin typeface="Courier New"/>
              </a:defRPr>
            </a:pPr>
            <a:r>
              <a:t>3. Health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3648456"/>
            <a:ext cx="4114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1">
                <a:solidFill>
                  <a:srgbClr val="0B1F2A"/>
                </a:solidFill>
                <a:latin typeface="Aptos"/>
              </a:defRPr>
            </a:pPr>
            <a:r>
              <a:t>endpoint availability and health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4425696"/>
            <a:ext cx="6355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22" name="Rectangle 21"/>
          <p:cNvSpPr/>
          <p:nvPr/>
        </p:nvSpPr>
        <p:spPr>
          <a:xfrm>
            <a:off x="5212080" y="4544568"/>
            <a:ext cx="13258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300" b="1">
                <a:solidFill>
                  <a:srgbClr val="008F86"/>
                </a:solidFill>
                <a:latin typeface="Courier New"/>
              </a:defRPr>
            </a:pPr>
            <a:r>
              <a:t>4. Route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4544568"/>
            <a:ext cx="4114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600" b="1">
                <a:solidFill>
                  <a:srgbClr val="0B1F2A"/>
                </a:solidFill>
                <a:latin typeface="Aptos"/>
              </a:defRPr>
            </a:pPr>
            <a:r>
              <a:t>Cost of Trust quote and recommendation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5577840"/>
            <a:ext cx="635508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>
              <a:defRPr sz="1500" b="1">
                <a:solidFill>
                  <a:srgbClr val="065B5C"/>
                </a:solidFill>
                <a:latin typeface="Aptos"/>
              </a:defRPr>
            </a:pPr>
            <a:r>
              <a:t>Missing upstream data stays unavailable. The report cites the facts it can verify.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56032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008F86"/>
                </a:solidFill>
                <a:latin typeface="Courier New"/>
              </a:defRPr>
            </a:pPr>
            <a:r>
              <a:t>PREPROD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0352"/>
            <a:ext cx="10744200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3500" b="1">
                <a:solidFill>
                  <a:srgbClr val="0B1F2A"/>
                </a:solidFill>
                <a:latin typeface="Trebuchet MS"/>
              </a:defRPr>
            </a:pPr>
            <a:r>
              <a:t>The proof is live, confirmed, and inspectable.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51560" cy="64008"/>
          </a:xfrm>
          <a:prstGeom prst="roundRect">
            <a:avLst>
              <a:gd name="adj" fmla="val 8000"/>
            </a:avLst>
          </a:prstGeom>
          <a:solidFill>
            <a:srgbClr val="00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768096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COST OF TRUST  /  CARDANO AGENTIC 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9/10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2743200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100" b="1">
                <a:solidFill>
                  <a:srgbClr val="008F86"/>
                </a:solidFill>
                <a:latin typeface="Courier New"/>
              </a:defRPr>
            </a:pPr>
            <a:r>
              <a:t>FOUR CONFIRMED RUNS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9144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500" b="1">
                <a:solidFill>
                  <a:srgbClr val="0B1F2A"/>
                </a:solidFill>
                <a:latin typeface="Courier New"/>
              </a:defRPr>
            </a:pPr>
            <a:r>
              <a:t>04:12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2148840"/>
            <a:ext cx="1874519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400" b="1">
                <a:solidFill>
                  <a:srgbClr val="065B5C"/>
                </a:solidFill>
                <a:latin typeface="Aptos"/>
              </a:defRPr>
            </a:pPr>
            <a:r>
              <a:t>underwritten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148840"/>
            <a:ext cx="25146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Aptos"/>
              </a:defRPr>
            </a:pPr>
            <a:r>
              <a:t>claim vault + coverage settle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48840"/>
            <a:ext cx="24231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200" b="0">
                <a:solidFill>
                  <a:srgbClr val="5D7076"/>
                </a:solidFill>
                <a:latin typeface="Courier New"/>
              </a:defRPr>
            </a:pPr>
            <a:r>
              <a:t>lock  f158c93d...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148840"/>
            <a:ext cx="246888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200" b="0">
                <a:solidFill>
                  <a:srgbClr val="5D7076"/>
                </a:solidFill>
                <a:latin typeface="Courier New"/>
              </a:defRPr>
            </a:pPr>
            <a:r>
              <a:t>settle  5f44c119...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98648"/>
            <a:ext cx="9144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500" b="1">
                <a:solidFill>
                  <a:srgbClr val="0B1F2A"/>
                </a:solidFill>
                <a:latin typeface="Courier New"/>
              </a:defRPr>
            </a:pPr>
            <a:r>
              <a:t>04:23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64208" y="2898648"/>
            <a:ext cx="1874519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400" b="1">
                <a:solidFill>
                  <a:srgbClr val="065B5C"/>
                </a:solidFill>
                <a:latin typeface="Aptos"/>
              </a:defRPr>
            </a:pPr>
            <a:r>
              <a:t>underwritten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898648"/>
            <a:ext cx="25146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Aptos"/>
              </a:defRPr>
            </a:pPr>
            <a:r>
              <a:t>forfeit + coverage settle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898648"/>
            <a:ext cx="24231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200" b="0">
                <a:solidFill>
                  <a:srgbClr val="5D7076"/>
                </a:solidFill>
                <a:latin typeface="Courier New"/>
              </a:defRPr>
            </a:pPr>
            <a:r>
              <a:t>lock  3f65613f...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898648"/>
            <a:ext cx="246888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200" b="0">
                <a:solidFill>
                  <a:srgbClr val="5D7076"/>
                </a:solidFill>
                <a:latin typeface="Courier New"/>
              </a:defRPr>
            </a:pPr>
            <a:r>
              <a:t>settle  54c5eb59...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48456"/>
            <a:ext cx="9144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500" b="1">
                <a:solidFill>
                  <a:srgbClr val="0B1F2A"/>
                </a:solidFill>
                <a:latin typeface="Courier New"/>
              </a:defRPr>
            </a:pPr>
            <a:r>
              <a:t>04:35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64208" y="3648456"/>
            <a:ext cx="1874519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400" b="1">
                <a:solidFill>
                  <a:srgbClr val="065B5C"/>
                </a:solidFill>
                <a:latin typeface="Aptos"/>
              </a:defRPr>
            </a:pPr>
            <a:r>
              <a:t>staggered A &gt; 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648456"/>
            <a:ext cx="25146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Aptos"/>
              </a:defRPr>
            </a:pPr>
            <a:r>
              <a:t>seller A claims first slot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648456"/>
            <a:ext cx="24231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200" b="0">
                <a:solidFill>
                  <a:srgbClr val="5D7076"/>
                </a:solidFill>
                <a:latin typeface="Courier New"/>
              </a:defRPr>
            </a:pPr>
            <a:r>
              <a:t>lock  b26f22c3...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3648456"/>
            <a:ext cx="246888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200" b="0">
                <a:solidFill>
                  <a:srgbClr val="5D7076"/>
                </a:solidFill>
                <a:latin typeface="Courier New"/>
              </a:defRPr>
            </a:pPr>
            <a:r>
              <a:t>settle  99fd62a1...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398264"/>
            <a:ext cx="9144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500" b="1">
                <a:solidFill>
                  <a:srgbClr val="0B1F2A"/>
                </a:solidFill>
                <a:latin typeface="Courier New"/>
              </a:defRPr>
            </a:pPr>
            <a:r>
              <a:t>04:45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64208" y="4398264"/>
            <a:ext cx="1874519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400" b="1">
                <a:solidFill>
                  <a:srgbClr val="065B5C"/>
                </a:solidFill>
                <a:latin typeface="Aptos"/>
              </a:defRPr>
            </a:pPr>
            <a:r>
              <a:t>underwritten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4398264"/>
            <a:ext cx="25146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0">
                <a:solidFill>
                  <a:srgbClr val="0B1F2A"/>
                </a:solidFill>
                <a:latin typeface="Aptos"/>
              </a:defRPr>
            </a:pPr>
            <a:r>
              <a:t>seller B claims + coverage settle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398264"/>
            <a:ext cx="24231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200" b="0">
                <a:solidFill>
                  <a:srgbClr val="5D7076"/>
                </a:solidFill>
                <a:latin typeface="Courier New"/>
              </a:defRPr>
            </a:pPr>
            <a:r>
              <a:t>lock  296257f1...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4398264"/>
            <a:ext cx="246888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200" b="0">
                <a:solidFill>
                  <a:srgbClr val="5D7076"/>
                </a:solidFill>
                <a:latin typeface="Courier New"/>
              </a:defRPr>
            </a:pPr>
            <a:r>
              <a:t>settle  3c20440b...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440680"/>
            <a:ext cx="10771632" cy="566928"/>
          </a:xfrm>
          <a:prstGeom prst="roundRect">
            <a:avLst>
              <a:gd name="adj" fmla="val 10000"/>
            </a:avLst>
          </a:prstGeom>
          <a:solidFill>
            <a:srgbClr val="0B2C3C"/>
          </a:solidFill>
          <a:ln w="12700">
            <a:solidFill>
              <a:srgbClr val="0B2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On-chain suite: 78 checks passed. A flipped report byte is rejected by the validator test suite.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144768"/>
            <a:ext cx="10771632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100" b="0">
                <a:solidFill>
                  <a:srgbClr val="5D7076"/>
                </a:solidFill>
                <a:latin typeface="Courier New"/>
              </a:defRPr>
            </a:pPr>
            <a:r>
              <a:t>Full hashes and explorer links are recorded in docs/DECK.md.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56032"/>
            <a:ext cx="40233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000" b="1">
                <a:solidFill>
                  <a:srgbClr val="008F86"/>
                </a:solidFill>
                <a:latin typeface="Courier New"/>
              </a:defRPr>
            </a:pPr>
            <a:r>
              <a:t>MEASURED CLOSE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30352"/>
            <a:ext cx="10744200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3500" b="1">
                <a:solidFill>
                  <a:srgbClr val="0B1F2A"/>
                </a:solidFill>
                <a:latin typeface="Trebuchet MS"/>
              </a:defRPr>
            </a:pPr>
            <a:r>
              <a:t>Trust is a route choice.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51560" cy="64008"/>
          </a:xfrm>
          <a:prstGeom prst="roundRect">
            <a:avLst>
              <a:gd name="adj" fmla="val 8000"/>
            </a:avLst>
          </a:prstGeom>
          <a:solidFill>
            <a:srgbClr val="00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768096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COST OF TRUST  /  CARDANO AGENTIC 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r">
              <a:defRPr sz="900" b="0">
                <a:solidFill>
                  <a:srgbClr val="5D7076"/>
                </a:solidFill>
                <a:latin typeface="Courier New"/>
              </a:defRPr>
            </a:pPr>
            <a:r>
              <a:t>10/10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7040880" cy="3977639"/>
          </a:xfrm>
          <a:prstGeom prst="roundRect">
            <a:avLst>
              <a:gd name="adj" fmla="val 8000"/>
            </a:avLst>
          </a:prstGeom>
          <a:solidFill>
            <a:srgbClr val="0B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1051560" y="1965960"/>
            <a:ext cx="63093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200" b="1">
                <a:solidFill>
                  <a:srgbClr val="9EE5D4"/>
                </a:solidFill>
                <a:latin typeface="Courier New"/>
              </a:defRPr>
            </a:pPr>
            <a:r>
              <a:t>THE THESIS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697480"/>
            <a:ext cx="6309360" cy="1417320"/>
          </a:xfrm>
          <a:prstGeom prst="roundRect">
            <a:avLst>
              <a:gd name="adj" fmla="val 5000"/>
            </a:avLst>
          </a:prstGeom>
          <a:solidFill>
            <a:srgbClr val="0B2C3C"/>
          </a:solidFill>
          <a:ln w="12700">
            <a:solidFill>
              <a:srgbClr val="0B2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ctr">
              <a:defRPr sz="3100" b="1">
                <a:solidFill>
                  <a:srgbClr val="FFFFFF"/>
                </a:solidFill>
                <a:latin typeface="Trebuchet MS"/>
              </a:defRPr>
            </a:pPr>
            <a:r>
              <a:t>Price the counterparty.</a:t>
            </a:r>
            <a:br/>
            <a:r>
              <a:t>Protect the deadline.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526280"/>
            <a:ext cx="630936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>
              <a:defRPr sz="1400" b="1">
                <a:solidFill>
                  <a:srgbClr val="D8EDE7"/>
                </a:solidFill>
                <a:latin typeface="Courier New"/>
              </a:defRPr>
            </a:pPr>
            <a:r>
              <a:t>Instant mode: 20 confirmed requests, 4,995 ms p50, 6,462 ms p95.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45920"/>
            <a:ext cx="3383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800" b="0">
                <a:solidFill>
                  <a:srgbClr val="0B1F2A"/>
                </a:solidFill>
                <a:latin typeface="Aptos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8412480" y="1965960"/>
            <a:ext cx="27432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200" b="1">
                <a:solidFill>
                  <a:srgbClr val="008F86"/>
                </a:solidFill>
                <a:latin typeface="Courier New"/>
              </a:defRPr>
            </a:pPr>
            <a:r>
              <a:t>CARDANO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560320"/>
            <a:ext cx="2697480" cy="1325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2900" b="1">
                <a:solidFill>
                  <a:srgbClr val="0B1F2A"/>
                </a:solidFill>
                <a:latin typeface="Trebuchet MS"/>
              </a:defRPr>
            </a:pPr>
            <a:r>
              <a:t>One spend.</a:t>
            </a:r>
            <a:br/>
            <a:r>
              <a:t>One winner.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4160520"/>
            <a:ext cx="2651760" cy="868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defRPr sz="1700" b="1">
                <a:solidFill>
                  <a:srgbClr val="065B5C"/>
                </a:solidFill>
                <a:latin typeface="Aptos"/>
              </a:defRPr>
            </a:pPr>
            <a:r>
              <a:t>Let the chain enforce the route.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989320"/>
            <a:ext cx="1078992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>
              <a:defRPr sz="1800" b="1">
                <a:solidFill>
                  <a:srgbClr val="065B5C"/>
                </a:solidFill>
                <a:latin typeface="Aptos"/>
              </a:defRPr>
            </a:pPr>
            <a:r>
              <a:t>Cost of Trust  |  your AI agent prices who to trust before it spends.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