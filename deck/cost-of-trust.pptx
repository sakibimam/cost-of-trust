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4572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008F86"/>
                </a:solidFill>
                <a:latin typeface="Courier New"/>
              </a:defRPr>
            </a:pPr>
            <a:r>
              <a:t>CARDANO AGENTIC 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417320"/>
            <a:ext cx="10515600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800" b="1">
                <a:solidFill>
                  <a:srgbClr val="0B1F2A"/>
                </a:solidFill>
                <a:latin typeface="Trebuchet MS"/>
              </a:defRPr>
            </a:pPr>
            <a:r>
              <a:t>Agents can buy reliability,</a:t>
            </a:r>
            <a:br/>
            <a:r>
              <a:t>not just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063240"/>
            <a:ext cx="7772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400" b="1">
                <a:solidFill>
                  <a:srgbClr val="065B5C"/>
                </a:solidFill>
                <a:latin typeface="Aptos"/>
              </a:defRPr>
            </a:pPr>
            <a:r>
              <a:t>We do not rank agents. We decide how to buy the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206240"/>
            <a:ext cx="3154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0B1F2A"/>
                </a:solidFill>
                <a:latin typeface="Trebuchet MS"/>
              </a:defRPr>
            </a:pPr>
            <a:r>
              <a:t>10 ADA</a:t>
            </a:r>
            <a:br/>
            <a:r>
              <a:t>service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206240"/>
            <a:ext cx="3154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E68A2E"/>
                </a:solidFill>
                <a:latin typeface="Trebuchet MS"/>
              </a:defRPr>
            </a:pPr>
            <a:r>
              <a:t>100 ADA</a:t>
            </a:r>
            <a:br/>
            <a:r>
              <a:t>deadline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54112" y="4206240"/>
            <a:ext cx="3383280" cy="960120"/>
          </a:xfrm>
          <a:prstGeom prst="roundRect">
            <a:avLst>
              <a:gd name="adj" fmla="val 12000"/>
            </a:avLst>
          </a:prstGeom>
          <a:solidFill>
            <a:srgbClr val="065B5C"/>
          </a:solidFill>
          <a:ln w="12700">
            <a:solidFill>
              <a:srgbClr val="065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FFFFFF"/>
                </a:solidFill>
                <a:latin typeface="Trebuchet MS"/>
              </a:defRPr>
            </a:pPr>
            <a:r>
              <a:t>route before</a:t>
            </a:r>
            <a:br/>
            <a:r>
              <a:t>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6272784"/>
            <a:ext cx="10515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Cost of Trust  |  how an agent buys a deadline job on Cardano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Price alone is the wrong decision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100" b="1">
                <a:solidFill>
                  <a:srgbClr val="0B1F2A"/>
                </a:solidFill>
                <a:latin typeface="Trebuchet MS"/>
              </a:defRPr>
            </a:pPr>
            <a:r>
              <a:t>A missed deadline destroys more value than the request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51760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08F86"/>
                </a:solidFill>
                <a:latin typeface="Aptos"/>
              </a:defRPr>
            </a:pPr>
            <a:r>
              <a:t>Seller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51760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10 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18688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Observed delivery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3218688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failure posterior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785615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Infrastructure 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785615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independent or shared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352544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Buyer risk appetite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4352544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absorb loss or protect 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4592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537960" y="1938528"/>
            <a:ext cx="44805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500" b="1">
                <a:solidFill>
                  <a:srgbClr val="FFFFFF"/>
                </a:solidFill>
                <a:latin typeface="Trebuchet MS"/>
              </a:defRPr>
            </a:pPr>
            <a:r>
              <a:t>The route is the product.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697480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E68A2E"/>
                </a:solidFill>
                <a:latin typeface="Courier New"/>
              </a:defRPr>
            </a:pPr>
            <a:r>
              <a:t>single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97480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cheap, exposed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172968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redundant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72968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expensive, lower joint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648456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staggered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48456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one spend, late backup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123944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underwritten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123944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coverage caps the 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1">
                <a:solidFill>
                  <a:srgbClr val="065B5C"/>
                </a:solidFill>
                <a:latin typeface="Aptos"/>
              </a:defRPr>
            </a:pPr>
            <a:r>
              <a:t>The router returns the eligible routes, their arithmetic, and the terms hash before the buyer pays.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SELECTION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The buyer's route changes with risk and correlation.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3/10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7432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5D7076"/>
                </a:solidFill>
                <a:latin typeface="Courier New"/>
              </a:defRPr>
            </a:pPr>
            <a:r>
              <a:t>BUYER RISK AVERSION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64208"/>
            <a:ext cx="374903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INDEPENDENT KEEPERS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64208"/>
            <a:ext cx="374903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300" b="1">
                <a:solidFill>
                  <a:srgbClr val="E68A2E"/>
                </a:solidFill>
                <a:latin typeface="Courier New"/>
              </a:defRPr>
            </a:pPr>
            <a:r>
              <a:t>SHARED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11.10 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94560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Staggered A &gt; B</a:t>
            </a:r>
            <a:br/>
            <a:r>
              <a:t>18.24 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35808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035808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15.36 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035808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Staggered B &gt; A</a:t>
            </a:r>
            <a:br/>
            <a:r>
              <a:t>25.75 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77056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877056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19.63 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877056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Underwritten B</a:t>
            </a:r>
            <a:br/>
            <a:r>
              <a:t>29.60 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18304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718304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B &gt; A</a:t>
            </a:r>
            <a:br/>
            <a:r>
              <a:t>27.71 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718304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Underwritten B</a:t>
            </a:r>
            <a:br/>
            <a:r>
              <a:t>37.00 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715000"/>
            <a:ext cx="10469880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B1F2A"/>
                </a:solidFill>
                <a:latin typeface="Aptos"/>
              </a:defRPr>
            </a:pPr>
            <a:r>
              <a:t>Lowest risk-adjusted cost wins. Shared failure makes apparent redundancy less valuable.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DECISION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Two buyers. Same sellers. Different winners.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05840" y="1874519"/>
            <a:ext cx="47091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008F86"/>
                </a:solidFill>
                <a:latin typeface="Courier New"/>
              </a:defRPr>
            </a:pPr>
            <a:r>
              <a:t>CAN ABSORB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86000"/>
            <a:ext cx="4709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risk aversion 0  |  independent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926080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staggered A &gt;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493008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493008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8.10 ADA 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59936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risk-adjusted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405993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8.83 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60020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64807" y="1874519"/>
            <a:ext cx="47091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NEEDS TAIL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807" y="2286000"/>
            <a:ext cx="4709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risk aversion 0.5  |  shared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7" y="2926080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7" y="2926080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underwritten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7" y="3493008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7" y="3493008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10 ADA collateral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7" y="4059936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risk-adjusted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3567" y="405993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29.60 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77840"/>
            <a:ext cx="10808208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600" b="1">
                <a:solidFill>
                  <a:srgbClr val="065B5C"/>
                </a:solidFill>
                <a:latin typeface="Courier New"/>
              </a:defRPr>
            </a:pPr>
            <a:r>
              <a:t>risk-adjusted cost = service price + premium + expected loss + risk aversion × loss standard deviation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CARDANO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One deadline task. One spend. One winner.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Quote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Router returns route, arithmetic, and terms hash.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70332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Buyer creates one claim-vault UTxO.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9224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Buyer pays two keepers. Both submit a claim on that UTxO.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1423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9281159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Settle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The ledger accepts the first claim and refuses the second: BadInputsUTxO.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00600"/>
            <a:ext cx="10808208" cy="777240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Coverage is separate: CRE signs the task outcome. Plutus V3 checks its binding, signer threshold, DON digest, and settlement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Masumi moves payment. Cost of Trust chooses the route.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9834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5D7076"/>
                </a:solidFill>
                <a:latin typeface="Courier New"/>
              </a:defRPr>
            </a:pPr>
            <a:r>
              <a:t>MASUMI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97480"/>
            <a:ext cx="420624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Should this payment happen?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383280"/>
            <a:ext cx="429768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0">
                <a:solidFill>
                  <a:srgbClr val="0B1F2A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Escrow, identity, reputation</a:t>
            </a: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Discovery and payment execution</a:t>
            </a: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Refund policy after the 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4983480" cy="3566160"/>
          </a:xfrm>
          <a:prstGeom prst="roundRect">
            <a:avLst>
              <a:gd name="adj" fmla="val 8000"/>
            </a:avLst>
          </a:prstGeom>
          <a:solidFill>
            <a:srgbClr val="06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720840" y="2103120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9EE5D4"/>
                </a:solidFill>
                <a:latin typeface="Courier New"/>
              </a:defRPr>
            </a:pPr>
            <a:r>
              <a:t>COST OF TRUST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697480"/>
            <a:ext cx="42062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FFFFFF"/>
                </a:solidFill>
                <a:latin typeface="Trebuchet MS"/>
              </a:defRPr>
            </a:pPr>
            <a:r>
              <a:t>Which counterparty and which protection route, at what price?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566160"/>
            <a:ext cx="429768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0">
                <a:solidFill>
                  <a:srgbClr val="0B1F2A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Observed seller histories</a:t>
            </a: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Correlation-aware route choice</a:t>
            </a: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Terms hash before x402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65B5C"/>
                </a:solidFill>
                <a:latin typeface="Aptos"/>
              </a:defRPr>
            </a:pPr>
            <a:r>
              <a:t>MIP-003-compatible keepers and x402 v2 Cardano exact payments stay in the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PROVIDER PROBE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Availability is a route input, not a footnote.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7/10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685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737360"/>
            <a:ext cx="914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868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737360"/>
            <a:ext cx="1051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737360"/>
            <a:ext cx="1051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488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008F86"/>
                </a:solidFill>
                <a:latin typeface="Aptos"/>
              </a:defRPr>
            </a:pPr>
            <a:r>
              <a:t>Koios authenticated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21488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1488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21488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1488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21488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394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21488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485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346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E68A2E"/>
                </a:solidFill>
                <a:latin typeface="Aptos"/>
              </a:defRPr>
            </a:pPr>
            <a:r>
              <a:t>Koios public keyless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8144" y="28346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8346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1496" y="28346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 HTTP 429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8346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E68A2E"/>
                </a:solidFill>
                <a:latin typeface="Courier New"/>
              </a:defRPr>
            </a:pPr>
            <a:r>
              <a:t>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8" y="28346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181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28346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186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5204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008F86"/>
                </a:solidFill>
                <a:latin typeface="Aptos"/>
              </a:defRPr>
            </a:pPr>
            <a:r>
              <a:t>Tatum Cardano preprod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8144" y="35204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5204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1496" y="35204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16752" y="35204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35204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318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35204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750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6634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60 spaced preprod calls per endpoint. Every 429 and non-2xx response is a failure. A free endpoint still has a deadline cost.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806440"/>
            <a:ext cx="10698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Source: router/probes/results-20261006051159.json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COWORKER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Trust Check turns diligence into an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794760" cy="3703320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05840" y="2057400"/>
            <a:ext cx="31089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TRUST CHECK COWORKER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06040"/>
            <a:ext cx="301752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900" b="1">
                <a:solidFill>
                  <a:srgbClr val="FFFFFF"/>
                </a:solidFill>
                <a:latin typeface="Trebuchet MS"/>
              </a:defRPr>
            </a:pPr>
            <a:r>
              <a:t>Should we hire</a:t>
            </a:r>
            <a:br/>
            <a:r>
              <a:t>this agent?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3063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0">
                <a:solidFill>
                  <a:srgbClr val="D8EDE7"/>
                </a:solidFill>
                <a:latin typeface="Aptos"/>
              </a:defRPr>
            </a:pPr>
            <a:r>
              <a:t>Agent ID + task value at risk</a:t>
            </a:r>
            <a:br/>
            <a:r>
              <a:t>becomes a cited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709160"/>
            <a:ext cx="3063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hire  |  backup  |  coverage  |  do not hire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37360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5212080" y="1856231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1. Registry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856231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live identity and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633472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5212080" y="2752344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2.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752344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Masumi escrow records from Koios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529584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212080" y="3648456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3.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648456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endpoint availability and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425696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5212080" y="4544568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4. Route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4544568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Cost of Trust quote and recommendation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5577840"/>
            <a:ext cx="635508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500" b="1">
                <a:solidFill>
                  <a:srgbClr val="065B5C"/>
                </a:solidFill>
                <a:latin typeface="Aptos"/>
              </a:defRPr>
            </a:pPr>
            <a:r>
              <a:t>Missing upstream data stays unavailable. The report cites the facts it can verify.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PREPROD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The proof is live, confirmed,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9/10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274320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008F86"/>
                </a:solidFill>
                <a:latin typeface="Courier New"/>
              </a:defRPr>
            </a:pPr>
            <a:r>
              <a:t>FOUR CONFIRMED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2148840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claim vault + coverage settle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f158c93d...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4884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5f44c119...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98648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4208" y="2898648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898648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forfeit + coverage settle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98648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3f65613f...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898648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54c5eb59...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48456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8" y="3648456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redundant A +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648456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A claims, B refused by the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48456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b26f22c3...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648456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99fd62a1...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98264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64208" y="4398264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398264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seller B claims + coverage settle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98264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296257f1...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398264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3c20440b...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40680"/>
            <a:ext cx="10771632" cy="566928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On-chain suite: 78 checks passed. A flipped report byte is rejected by the validator test suite.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144768"/>
            <a:ext cx="10771632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Full hashes and explorer links are recorded in docs/DECK.md.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MEASURED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Trust is a route choice.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040880" cy="3977639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51560" y="1965960"/>
            <a:ext cx="63093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THE 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97480"/>
            <a:ext cx="6309360" cy="1417320"/>
          </a:xfrm>
          <a:prstGeom prst="roundRect">
            <a:avLst>
              <a:gd name="adj" fmla="val 5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3100" b="1">
                <a:solidFill>
                  <a:srgbClr val="FFFFFF"/>
                </a:solidFill>
                <a:latin typeface="Trebuchet MS"/>
              </a:defRPr>
            </a:pPr>
            <a:r>
              <a:t>Price the counterparty.</a:t>
            </a:r>
            <a:br/>
            <a:r>
              <a:t>Protect the deadline.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526280"/>
            <a:ext cx="63093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400" b="1">
                <a:solidFill>
                  <a:srgbClr val="D8EDE7"/>
                </a:solidFill>
                <a:latin typeface="Courier New"/>
              </a:defRPr>
            </a:pPr>
            <a:r>
              <a:t>Instant mode: 20 confirmed requests, 4,995 ms p50, 6,462 ms p95.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383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8412480" y="1965960"/>
            <a:ext cx="27432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008F86"/>
                </a:solidFill>
                <a:latin typeface="Courier New"/>
              </a:defRPr>
            </a:pPr>
            <a:r>
              <a:t>CARDANO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2697480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900" b="1">
                <a:solidFill>
                  <a:srgbClr val="0B1F2A"/>
                </a:solidFill>
                <a:latin typeface="Trebuchet MS"/>
              </a:defRPr>
            </a:pPr>
            <a:r>
              <a:t>One spend.</a:t>
            </a:r>
            <a:br/>
            <a:r>
              <a:t>One winner.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60520"/>
            <a:ext cx="2651760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65B5C"/>
                </a:solidFill>
                <a:latin typeface="Aptos"/>
              </a:defRPr>
            </a:pPr>
            <a:r>
              <a:t>Let the chain enforce the route.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800" b="1">
                <a:solidFill>
                  <a:srgbClr val="065B5C"/>
                </a:solidFill>
                <a:latin typeface="Aptos"/>
              </a:defRPr>
            </a:pPr>
            <a:r>
              <a:t>Cost of Trust  |  agents buy reliability, and Cardano enforces one winner.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