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8" y="457200"/>
            <a:ext cx="3657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CARDANO AGENTIC COMMERCE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417320"/>
            <a:ext cx="10515600" cy="1234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800" b="1">
                <a:solidFill>
                  <a:srgbClr val="0B1F2A"/>
                </a:solidFill>
                <a:latin typeface="Trebuchet MS"/>
              </a:defRPr>
            </a:pPr>
            <a:r>
              <a:t>Your AI agent prices</a:t>
            </a:r>
            <a:br/>
            <a:r>
              <a:t>who to trust before it spends.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063240"/>
            <a:ext cx="777240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400" b="1">
                <a:solidFill>
                  <a:srgbClr val="065B5C"/>
                </a:solidFill>
                <a:latin typeface="Aptos"/>
              </a:defRPr>
            </a:pPr>
            <a:r>
              <a:t>The cheapest keeper is not the cheapest route.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0B1F2A"/>
                </a:solidFill>
                <a:latin typeface="Trebuchet MS"/>
              </a:defRPr>
            </a:pPr>
            <a:r>
              <a:t>10 ADA</a:t>
            </a:r>
            <a:br/>
            <a:r>
              <a:t>service price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4206240"/>
            <a:ext cx="315468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E68A2E"/>
                </a:solidFill>
                <a:latin typeface="Trebuchet MS"/>
              </a:defRPr>
            </a:pPr>
            <a:r>
              <a:t>100 ADA</a:t>
            </a:r>
            <a:br/>
            <a:r>
              <a:t>deadline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54112" y="420624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065B5C"/>
          </a:solidFill>
          <a:ln w="12700">
            <a:solidFill>
              <a:srgbClr val="065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route before</a:t>
            </a:r>
            <a:br/>
            <a:r>
              <a:t>payment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6272784"/>
            <a:ext cx="10515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Cost of Trust  |  risk-priced routing for deadline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Price alone is the wrong decision rule.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2/10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60120" y="1920240"/>
            <a:ext cx="443484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100" b="1">
                <a:solidFill>
                  <a:srgbClr val="0B1F2A"/>
                </a:solidFill>
                <a:latin typeface="Trebuchet MS"/>
              </a:defRPr>
            </a:pPr>
            <a:r>
              <a:t>A missed deadline destroys more value than the request costs.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651760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08F86"/>
                </a:solidFill>
                <a:latin typeface="Aptos"/>
              </a:defRPr>
            </a:pPr>
            <a:r>
              <a:t>Seller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651760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10 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18688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Observed delivery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218688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failure posterior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785615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Infrastructure correlation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3785615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independent or shared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352544"/>
            <a:ext cx="26517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Buyer risk appetite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352544"/>
            <a:ext cx="18288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1400" b="0">
                <a:solidFill>
                  <a:srgbClr val="5D7076"/>
                </a:solidFill>
                <a:latin typeface="Courier New"/>
              </a:defRPr>
            </a:pPr>
            <a:r>
              <a:t>absorb loss or protect tail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64592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537960" y="1938528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500" b="1">
                <a:solidFill>
                  <a:srgbClr val="FFFFFF"/>
                </a:solidFill>
                <a:latin typeface="Trebuchet MS"/>
              </a:defRPr>
            </a:pPr>
            <a:r>
              <a:t>The route is the product.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60" y="2697480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E68A2E"/>
                </a:solidFill>
                <a:latin typeface="Courier New"/>
              </a:defRPr>
            </a:pPr>
            <a:r>
              <a:t>single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697480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cheap, exposed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172968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redundant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172968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expensive, lower joint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648456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staggered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648456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one spend, late backup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123944"/>
            <a:ext cx="1600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1">
                <a:solidFill>
                  <a:srgbClr val="008F86"/>
                </a:solidFill>
                <a:latin typeface="Courier New"/>
              </a:defRPr>
            </a:pPr>
            <a:r>
              <a:t>underwritten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123944"/>
            <a:ext cx="2697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coverage caps the 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1">
                <a:solidFill>
                  <a:srgbClr val="065B5C"/>
                </a:solidFill>
                <a:latin typeface="Aptos"/>
              </a:defRPr>
            </a:pPr>
            <a:r>
              <a:t>The router returns the eligible routes, their arithmetic, and the terms hash before the buyer pays.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SELECTION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buyer's route changes with risk and correlation.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3/10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2743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5D7076"/>
                </a:solidFill>
                <a:latin typeface="Courier New"/>
              </a:defRPr>
            </a:pPr>
            <a:r>
              <a:t>BUYER RISK AVERSION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INDEPENDENT KEEPERS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664208"/>
            <a:ext cx="3749039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SHARED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94560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11.10 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94560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Staggered A &gt; B</a:t>
            </a:r>
            <a:br/>
            <a:r>
              <a:t>18.24 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35808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15.36 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035808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Staggered B &gt; A</a:t>
            </a:r>
            <a:br/>
            <a:r>
              <a:t>25.75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77056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  <a:br/>
            <a:r>
              <a:t>19.63 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3877056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29.60 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18304"/>
            <a:ext cx="2743200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2200" b="1">
                <a:solidFill>
                  <a:srgbClr val="0B1F2A"/>
                </a:solidFill>
                <a:latin typeface="Trebuchet MS"/>
              </a:defRPr>
            </a:pPr>
            <a: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065B5C"/>
                </a:solidFill>
                <a:latin typeface="Aptos"/>
              </a:defRPr>
            </a:pPr>
            <a:r>
              <a:t>Staggered B &gt; A</a:t>
            </a:r>
            <a:br/>
            <a:r>
              <a:t>27.71 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4718304"/>
            <a:ext cx="3749039" cy="713232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600" b="1">
                <a:solidFill>
                  <a:srgbClr val="E68A2E"/>
                </a:solidFill>
                <a:latin typeface="Aptos"/>
              </a:defRPr>
            </a:pPr>
            <a:r>
              <a:t>Underwritten B</a:t>
            </a:r>
            <a:br/>
            <a:r>
              <a:t>37.00 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715000"/>
            <a:ext cx="10469880" cy="393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B1F2A"/>
                </a:solidFill>
                <a:latin typeface="Aptos"/>
              </a:defRPr>
            </a:pPr>
            <a:r>
              <a:t>Lowest risk-adjusted cost wins. Shared failure makes apparent redundancy less valuable.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DECISION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Two buyers. Same sellers. Different winners.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4/10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CAN ABSORB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  |  independent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staggered A &gt;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8.10 ADA 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8.83 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600200"/>
            <a:ext cx="53492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64807" y="1874519"/>
            <a:ext cx="4709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NEEDS TAIL 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7" y="2286000"/>
            <a:ext cx="4709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0B1F2A"/>
                </a:solidFill>
                <a:latin typeface="Aptos"/>
              </a:defRPr>
            </a:pPr>
            <a:r>
              <a:t>risk aversion 0.5  |  shared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64807" y="29260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route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2926080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underwritten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64807" y="3493008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7" y="3493008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10 ADA collateral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7" y="4059936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5D7076"/>
                </a:solidFill>
                <a:latin typeface="Courier New"/>
              </a:defRPr>
            </a:pPr>
            <a:r>
              <a:t>risk-adjusted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3567" y="4059936"/>
            <a:ext cx="30632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29.60 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577840"/>
            <a:ext cx="10808208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600" b="1">
                <a:solidFill>
                  <a:srgbClr val="065B5C"/>
                </a:solidFill>
                <a:latin typeface="Courier New"/>
              </a:defRPr>
            </a:pPr>
            <a:r>
              <a:t>risk-adjusted cost = service price + premium + expected loss + risk aversion × loss standard deviation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CARDANO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One deadline task. One spend. One winner.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5/10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91440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Quote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Router returns route, arithmetic, and terms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70332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Lock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Buyer creates one claim-vault UTxO.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92240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Schedule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Validity intervals give A the first slot and B the late slot.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14232" y="2788920"/>
            <a:ext cx="320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2200" b="1">
                <a:solidFill>
                  <a:srgbClr val="008F86"/>
                </a:solidFill>
                <a:latin typeface="Trebuchet MS"/>
              </a:defRPr>
            </a:pPr>
            <a: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9281159" y="2057400"/>
            <a:ext cx="5943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E68A2E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59" y="2560320"/>
            <a:ext cx="1920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Settle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59" y="3154680"/>
            <a:ext cx="192024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0">
                <a:solidFill>
                  <a:srgbClr val="5D7076"/>
                </a:solidFill>
                <a:latin typeface="Aptos"/>
              </a:defRPr>
            </a:pPr>
            <a:r>
              <a:t>EUTXO contention pays the keeper whose slot lands.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00600"/>
            <a:ext cx="10808208" cy="77724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Coverage is separate: CRE signs the task outcome. Plutus V3 checks its binding, signer threshold, DON digest, and settlement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Masumi moves payment. Cost of Trust chooses the route.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6/10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5D7076"/>
                </a:solidFill>
                <a:latin typeface="Courier New"/>
              </a:defRPr>
            </a:pPr>
            <a:r>
              <a:t>MASUMI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697480"/>
            <a:ext cx="4206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0B1F2A"/>
                </a:solidFill>
                <a:latin typeface="Trebuchet MS"/>
              </a:defRPr>
            </a:pPr>
            <a:r>
              <a:t>Should this payment happen?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383280"/>
            <a:ext cx="4297680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Escrow, identity, reputation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Discovery and payment execution</a:t>
            </a:r>
          </a:p>
          <a:p>
            <a:pPr>
              <a:spcBef>
                <a:spcPts val="500"/>
              </a:spcBef>
              <a:defRPr sz="1600" b="0">
                <a:solidFill>
                  <a:srgbClr val="5D7076"/>
                </a:solidFill>
                <a:latin typeface="Aptos"/>
              </a:defRPr>
            </a:pPr>
            <a:r>
              <a:t>Refund policy after the fact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4983480" cy="3566160"/>
          </a:xfrm>
          <a:prstGeom prst="roundRect">
            <a:avLst>
              <a:gd name="adj" fmla="val 8000"/>
            </a:avLst>
          </a:prstGeom>
          <a:solidFill>
            <a:srgbClr val="065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720840" y="2103120"/>
            <a:ext cx="429768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500" b="1">
                <a:solidFill>
                  <a:srgbClr val="9EE5D4"/>
                </a:solidFill>
                <a:latin typeface="Courier New"/>
              </a:defRPr>
            </a:pPr>
            <a:r>
              <a:t>COST OF TRUST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2697480"/>
            <a:ext cx="420624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300" b="1">
                <a:solidFill>
                  <a:srgbClr val="FFFFFF"/>
                </a:solidFill>
                <a:latin typeface="Trebuchet MS"/>
              </a:defRPr>
            </a:pPr>
            <a:r>
              <a:t>Which counterparty and which protection route, at what price?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3566160"/>
            <a:ext cx="429768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0">
                <a:solidFill>
                  <a:srgbClr val="0B1F2A"/>
                </a:solidFill>
                <a:latin typeface="Aptos"/>
              </a:defRPr>
            </a:pP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Observed seller histories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Correlation-aware route choice</a:t>
            </a:r>
          </a:p>
          <a:p>
            <a:pPr>
              <a:spcBef>
                <a:spcPts val="500"/>
              </a:spcBef>
              <a:defRPr sz="1600" b="0">
                <a:solidFill>
                  <a:srgbClr val="FFFFFF"/>
                </a:solidFill>
                <a:latin typeface="Aptos"/>
              </a:defRPr>
            </a:pPr>
            <a:r>
              <a:t>Terms hash before x402 payment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MIP-003-compatible keepers and x402 v2 Cardano exact payments stay in the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PROVIDER PROBE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Availability is a route input, not a footnote.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7/10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PROVIDER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685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737360"/>
            <a:ext cx="914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737360"/>
            <a:ext cx="868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FAILURES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73736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737360"/>
            <a:ext cx="10515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5D7076"/>
                </a:solidFill>
                <a:latin typeface="Courier New"/>
              </a:defRPr>
            </a:pPr>
            <a:r>
              <a:t>P95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488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Koios authenticated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21488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21488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21488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21488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50608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394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21488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485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8346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E68A2E"/>
                </a:solidFill>
                <a:latin typeface="Aptos"/>
              </a:defRPr>
            </a:pPr>
            <a:r>
              <a:t>Koios public keyless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8144" y="28346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28346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28346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 HTTP 429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16752" y="28346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E68A2E"/>
                </a:solidFill>
                <a:latin typeface="Courier New"/>
              </a:defRPr>
            </a:pPr>
            <a:r>
              <a:t>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0608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181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38744" y="28346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EAF1E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186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520440"/>
            <a:ext cx="27432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400" b="1">
                <a:solidFill>
                  <a:srgbClr val="008F86"/>
                </a:solidFill>
                <a:latin typeface="Aptos"/>
              </a:defRPr>
            </a:pPr>
            <a:r>
              <a:t>Tatum Cardano preprod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8144" y="3520440"/>
            <a:ext cx="6858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3520440"/>
            <a:ext cx="91440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60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11496" y="3520440"/>
            <a:ext cx="8686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16752" y="3520440"/>
            <a:ext cx="109728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0608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318 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3520440"/>
            <a:ext cx="1051560" cy="5212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Courier New"/>
              </a:defRPr>
            </a:pPr>
            <a:r>
              <a:t>750 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60 spaced preprod calls per endpoint. Every 429 and non-2xx response is a failure. A free endpoint still has a deadline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806440"/>
            <a:ext cx="10698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Source: router/probes/results-20261006051159.json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COWORKER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Trust Check turns diligence into an action.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8/10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3794760" cy="3703320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1005840" y="2057400"/>
            <a:ext cx="31089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TRUST CHECK COWORKER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606040"/>
            <a:ext cx="301752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FFFFFF"/>
                </a:solidFill>
                <a:latin typeface="Trebuchet MS"/>
              </a:defRPr>
            </a:pPr>
            <a:r>
              <a:t>Should we hire</a:t>
            </a:r>
            <a:br/>
            <a:r>
              <a:t>this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703320"/>
            <a:ext cx="3063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0">
                <a:solidFill>
                  <a:srgbClr val="D8EDE7"/>
                </a:solidFill>
                <a:latin typeface="Aptos"/>
              </a:defRPr>
            </a:pPr>
            <a:r>
              <a:t>Agent ID + task value at risk</a:t>
            </a:r>
            <a:br/>
            <a:r>
              <a:t>becomes a cited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4709160"/>
            <a:ext cx="3063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9EE5D4"/>
                </a:solidFill>
                <a:latin typeface="Courier New"/>
              </a:defRPr>
            </a:pPr>
            <a:r>
              <a:t>hire  |  backup  |  coverage  |  do not hire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5212080" y="1856231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1. Registry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856231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live identity and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2633472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212080" y="2752344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2.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2752344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Masumi escrow records from Koios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529584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5212080" y="3648456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3. Health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3648456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endpoint availability and 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4425696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5212080" y="4544568"/>
            <a:ext cx="13258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300" b="1">
                <a:solidFill>
                  <a:srgbClr val="008F86"/>
                </a:solidFill>
                <a:latin typeface="Courier New"/>
              </a:defRPr>
            </a:pPr>
            <a:r>
              <a:t>4. Route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4544568"/>
            <a:ext cx="4114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600" b="1">
                <a:solidFill>
                  <a:srgbClr val="0B1F2A"/>
                </a:solidFill>
                <a:latin typeface="Aptos"/>
              </a:defRPr>
            </a:pPr>
            <a:r>
              <a:t>Cost of Trust quote and recommendation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5577840"/>
            <a:ext cx="635508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500" b="1">
                <a:solidFill>
                  <a:srgbClr val="065B5C"/>
                </a:solidFill>
                <a:latin typeface="Aptos"/>
              </a:defRPr>
            </a:pPr>
            <a:r>
              <a:t>Missing upstream data stays unavailable. The report cites the facts it can verify.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PREPROD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The proof is live, confirmed, and inspectable.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9/10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27432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1">
                <a:solidFill>
                  <a:srgbClr val="008F86"/>
                </a:solidFill>
                <a:latin typeface="Courier New"/>
              </a:defRPr>
            </a:pPr>
            <a:r>
              <a:t>FOUR CONFIRMED 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148840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2148840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claim vault + coverage settle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48840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f158c93d...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148840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5f44c119...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98648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2898648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898648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forfeit + coverage settle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898648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3f65613f...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898648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54c5eb59...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48456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8" y="3648456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staggered A &gt;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648456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seller A claims first slot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648456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b26f22c3...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48456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99fd62a1...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398264"/>
            <a:ext cx="914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0B1F2A"/>
                </a:solidFill>
                <a:latin typeface="Courier New"/>
              </a:defRPr>
            </a:pPr>
            <a:r>
              <a:t>04:45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4398264"/>
            <a:ext cx="187451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400" b="1">
                <a:solidFill>
                  <a:srgbClr val="065B5C"/>
                </a:solidFill>
                <a:latin typeface="Aptos"/>
              </a:defRPr>
            </a:pPr>
            <a:r>
              <a:t>underwritten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0" y="4398264"/>
            <a:ext cx="25146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300" b="0">
                <a:solidFill>
                  <a:srgbClr val="0B1F2A"/>
                </a:solidFill>
                <a:latin typeface="Aptos"/>
              </a:defRPr>
            </a:pPr>
            <a:r>
              <a:t>seller B claims + coverage settle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98264"/>
            <a:ext cx="2423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lock  296257f1...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398264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defRPr sz="1200" b="0">
                <a:solidFill>
                  <a:srgbClr val="5D7076"/>
                </a:solidFill>
                <a:latin typeface="Courier New"/>
              </a:defRPr>
            </a:pPr>
            <a:r>
              <a:t>settle  3c20440b...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40680"/>
            <a:ext cx="10771632" cy="566928"/>
          </a:xfrm>
          <a:prstGeom prst="roundRect">
            <a:avLst>
              <a:gd name="adj" fmla="val 10000"/>
            </a:avLst>
          </a:prstGeom>
          <a:solidFill>
            <a:srgbClr val="0B2C3C"/>
          </a:solidFill>
          <a:ln w="12700">
            <a:solidFill>
              <a:srgbClr val="0B2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On-chain suite: 78 checks passed. A flipped report byte is rejected by the validator test suite.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144768"/>
            <a:ext cx="10771632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100" b="0">
                <a:solidFill>
                  <a:srgbClr val="5D7076"/>
                </a:solidFill>
                <a:latin typeface="Courier New"/>
              </a:defRPr>
            </a:pPr>
            <a:r>
              <a:t>Full hashes and explorer links are recorded in docs/DECK.md.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56032"/>
            <a:ext cx="4023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000" b="1">
                <a:solidFill>
                  <a:srgbClr val="008F86"/>
                </a:solidFill>
                <a:latin typeface="Courier New"/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530352"/>
            <a:ext cx="1074420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3500" b="1">
                <a:solidFill>
                  <a:srgbClr val="0B1F2A"/>
                </a:solidFill>
                <a:latin typeface="Trebuchet MS"/>
              </a:defRPr>
            </a:pPr>
            <a:r>
              <a:t>See the route before the payment.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51560" cy="64008"/>
          </a:xfrm>
          <a:prstGeom prst="roundRect">
            <a:avLst>
              <a:gd name="adj" fmla="val 8000"/>
            </a:avLst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76809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COST OF TRUST  /  CARDANO AGENTIC 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r">
              <a:defRPr sz="900" b="0">
                <a:solidFill>
                  <a:srgbClr val="5D7076"/>
                </a:solidFill>
                <a:latin typeface="Courier New"/>
              </a:defRPr>
            </a:pPr>
            <a:r>
              <a:t>10/10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040880" cy="3977639"/>
          </a:xfrm>
          <a:prstGeom prst="roundRect">
            <a:avLst>
              <a:gd name="adj" fmla="val 8000"/>
            </a:avLst>
          </a:prstGeom>
          <a:solidFill>
            <a:srgbClr val="0B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1051560" y="1965960"/>
            <a:ext cx="6309360" cy="2240280"/>
          </a:xfrm>
          <a:prstGeom prst="roundRect">
            <a:avLst>
              <a:gd name="adj" fmla="val 5000"/>
            </a:avLst>
          </a:prstGeom>
          <a:solidFill>
            <a:srgbClr val="0B2C3C"/>
          </a:solidFill>
          <a:ln w="12700">
            <a:solidFill>
              <a:srgbClr val="5A8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ctr">
              <a:defRPr sz="2900" b="1">
                <a:solidFill>
                  <a:srgbClr val="9EE5D4"/>
                </a:solidFill>
                <a:latin typeface="Trebuchet MS"/>
              </a:defRPr>
            </a:pPr>
            <a:r>
              <a:t>SCREEN RECORDING</a:t>
            </a:r>
            <a:br/>
            <a:r>
              <a:t>PLACEHOLDER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526280"/>
            <a:ext cx="63093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Insert video file: cost-of-trust/deck/demo.mp4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383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800" b="0">
                <a:solidFill>
                  <a:srgbClr val="0B1F2A"/>
                </a:solidFill>
                <a:latin typeface="Aptos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8412480" y="1965960"/>
            <a:ext cx="2743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200" b="1">
                <a:solidFill>
                  <a:srgbClr val="008F86"/>
                </a:solidFill>
                <a:latin typeface="Courier New"/>
              </a:defRPr>
            </a:pPr>
            <a:r>
              <a:t>THE THESIS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560320"/>
            <a:ext cx="2697480" cy="1325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2900" b="1">
                <a:solidFill>
                  <a:srgbClr val="0B1F2A"/>
                </a:solidFill>
                <a:latin typeface="Trebuchet MS"/>
              </a:defRPr>
            </a:pPr>
            <a:r>
              <a:t>Trust is</a:t>
            </a:r>
            <a:br/>
            <a:r>
              <a:t>a route choice.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4160520"/>
            <a:ext cx="2651760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defRPr sz="1700" b="1">
                <a:solidFill>
                  <a:srgbClr val="065B5C"/>
                </a:solidFill>
                <a:latin typeface="Aptos"/>
              </a:defRPr>
            </a:pPr>
            <a:r>
              <a:t>Price the counterparty.</a:t>
            </a:r>
            <a:br/>
            <a:r>
              <a:t>Protect the deadline.</a:t>
            </a:r>
            <a:br/>
            <a:r>
              <a:t>Let Cardano enforce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ctr">
              <a:defRPr sz="1800" b="1">
                <a:solidFill>
                  <a:srgbClr val="065B5C"/>
                </a:solidFill>
                <a:latin typeface="Aptos"/>
              </a:defRPr>
            </a:pPr>
            <a:r>
              <a:t>Cost of Trust  |  your AI agent prices who to trust before it spends.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